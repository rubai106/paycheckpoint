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7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8890">
            <a:solidFill>
              <a:srgbClr val="2942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A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PAYCHECKPOINT  •  BUILDATHON DRAFT  •  30 OCT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3A8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8890">
            <a:solidFill>
              <a:srgbClr val="D6E1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980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PAYCHECKPOINT  •  B2C CONSUMER WORKFLOW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3A8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84632"/>
            <a:ext cx="2404872" cy="292608"/>
          </a:xfrm>
          <a:prstGeom prst="roundRect">
            <a:avLst>
              <a:gd name="adj" fmla="val 46875"/>
            </a:avLst>
          </a:prstGeom>
          <a:solidFill>
            <a:srgbClr val="18354B"/>
          </a:solidFill>
          <a:ln w="11430">
            <a:solidFill>
              <a:srgbClr val="18354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" y="502920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OSTAD PRESENTS YUNET AIGNITE 2026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024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A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PAYCHECKPOINT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8132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safer pause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money moves.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7238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5D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what you intend to send. Understand what you are being told. Prepare the next sensible action.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316736"/>
            <a:ext cx="4069080" cy="3246120"/>
          </a:xfrm>
          <a:prstGeom prst="roundRect">
            <a:avLst>
              <a:gd name="adj" fmla="val 5070"/>
            </a:avLst>
          </a:prstGeom>
          <a:solidFill>
            <a:srgbClr val="12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1664208"/>
            <a:ext cx="438912" cy="438912"/>
          </a:xfrm>
          <a:prstGeom prst="ellipse">
            <a:avLst/>
          </a:prstGeom>
          <a:solidFill>
            <a:srgbClr val="0B9288"/>
          </a:solidFill>
          <a:ln w="12700">
            <a:solidFill>
              <a:srgbClr val="0B92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54112" y="170078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intent vs. entered details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73568" y="2139696"/>
            <a:ext cx="0" cy="438912"/>
          </a:xfrm>
          <a:prstGeom prst="line">
            <a:avLst/>
          </a:prstGeom>
          <a:noFill/>
          <a:ln w="17780">
            <a:solidFill>
              <a:srgbClr val="4D71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54112" y="2606040"/>
            <a:ext cx="438912" cy="438912"/>
          </a:xfrm>
          <a:prstGeom prst="ellipse">
            <a:avLst/>
          </a:prstGeom>
          <a:solidFill>
            <a:srgbClr val="0B9288"/>
          </a:solidFill>
          <a:ln w="12700">
            <a:solidFill>
              <a:srgbClr val="0B92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54112" y="26426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587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8620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and conversation context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3081528"/>
            <a:ext cx="0" cy="438912"/>
          </a:xfrm>
          <a:prstGeom prst="line">
            <a:avLst/>
          </a:prstGeom>
          <a:noFill/>
          <a:ln w="17780">
            <a:solidFill>
              <a:srgbClr val="4D71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3547872"/>
            <a:ext cx="438912" cy="438912"/>
          </a:xfrm>
          <a:prstGeom prst="ellipse">
            <a:avLst/>
          </a:prstGeom>
          <a:solidFill>
            <a:srgbClr val="0B9288"/>
          </a:solidFill>
          <a:ln w="12700">
            <a:solidFill>
              <a:srgbClr val="0B92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54112" y="358444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529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38039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recovery next steps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" y="4892040"/>
            <a:ext cx="3493008" cy="1060704"/>
          </a:xfrm>
          <a:prstGeom prst="roundRect">
            <a:avLst>
              <a:gd name="adj" fmla="val 13793"/>
            </a:avLst>
          </a:prstGeom>
          <a:solidFill>
            <a:srgbClr val="13283B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0383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81,423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5431536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BCA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fraud cases across MFS, cheque and card transactions in Bangladesh (2025)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462272" y="4892040"/>
            <a:ext cx="3493008" cy="1060704"/>
          </a:xfrm>
          <a:prstGeom prst="roundRect">
            <a:avLst>
              <a:gd name="adj" fmla="val 13793"/>
            </a:avLst>
          </a:prstGeom>
          <a:solidFill>
            <a:srgbClr val="13283B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26864" y="50383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5E7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৳742.56m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5431536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BCA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MFS fraud loss that remained unrecovered in 2025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302752" y="4892040"/>
            <a:ext cx="3493008" cy="1060704"/>
          </a:xfrm>
          <a:prstGeom prst="roundRect">
            <a:avLst>
              <a:gd name="adj" fmla="val 13793"/>
            </a:avLst>
          </a:prstGeom>
          <a:solidFill>
            <a:srgbClr val="13283B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67344" y="50383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11%  /  42%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8467344" y="5431536"/>
            <a:ext cx="3127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BCA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payment-service users ever sent to a wrong number / that group unable to recover</a:t>
            </a:r>
            <a:endParaRPr lang="en-US" sz="82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24535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9BAE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Bangladesh Bank, Payment Systems Report 2025, ch. 8; IPA, Bangladesh 2025 Financial Consumer Protection Survey, executive summary p. 7. Figures describe reported cases/survey respondents, not PayCheckpoint outcomes.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3A8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3891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B9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8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consumer journey. Three everyday moments.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B2C companion for before a payment, during a suspicious interaction, and after something goes wrong.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273552" cy="3337560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1430">
            <a:solidFill>
              <a:srgbClr val="DC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68296"/>
            <a:ext cx="1261872" cy="292608"/>
          </a:xfrm>
          <a:prstGeom prst="roundRect">
            <a:avLst>
              <a:gd name="adj" fmla="val 46875"/>
            </a:avLst>
          </a:prstGeom>
          <a:solidFill>
            <a:srgbClr val="DDF3EF"/>
          </a:solidFill>
          <a:ln w="11430">
            <a:solidFill>
              <a:srgbClr val="DDF3E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8658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9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273552" y="23317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7C6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8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send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502152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recipient and amount you intend to pay with the values you are preparing to enter in your actual wallet app.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41248" y="4645152"/>
            <a:ext cx="2816352" cy="0"/>
          </a:xfrm>
          <a:prstGeom prst="line">
            <a:avLst/>
          </a:prstGeom>
          <a:noFill/>
          <a:ln w="12700">
            <a:solidFill>
              <a:srgbClr val="E2E9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480060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match / mismatch and a manual re-check checkpoint.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2139696"/>
            <a:ext cx="3273552" cy="3337560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1430">
            <a:solidFill>
              <a:srgbClr val="DC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2368296"/>
            <a:ext cx="1261872" cy="292608"/>
          </a:xfrm>
          <a:prstGeom prst="roundRect">
            <a:avLst>
              <a:gd name="adj" fmla="val 46875"/>
            </a:avLst>
          </a:prstGeom>
          <a:solidFill>
            <a:srgbClr val="FFF2DC"/>
          </a:solidFill>
          <a:ln w="11430">
            <a:solidFill>
              <a:srgbClr val="FFF2D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8658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9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3317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7C6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8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 message feels wrong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54296" y="3502152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warning patterns in a message or a user-labelled conversation sequence, with reasons and uncertainty explained.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654296" y="4645152"/>
            <a:ext cx="2816352" cy="0"/>
          </a:xfrm>
          <a:prstGeom prst="line">
            <a:avLst/>
          </a:prstGeom>
          <a:noFill/>
          <a:ln w="12700">
            <a:solidFill>
              <a:srgbClr val="E2E9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54296" y="480060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caution steps — not a definitive scam verdict.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66176" y="2139696"/>
            <a:ext cx="3273552" cy="3337560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1430">
            <a:solidFill>
              <a:srgbClr val="DC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67344" y="2368296"/>
            <a:ext cx="1261872" cy="292608"/>
          </a:xfrm>
          <a:prstGeom prst="roundRect">
            <a:avLst>
              <a:gd name="adj" fmla="val 46875"/>
            </a:avLst>
          </a:prstGeom>
          <a:solidFill>
            <a:srgbClr val="FCECEC"/>
          </a:solidFill>
          <a:ln w="1143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40496" y="238658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TO ACT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899648" y="23317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7C6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67344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8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a payment problem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67344" y="3502152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provider-specific guidance, organize source-aware evidence and prepare a factual support conversation.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467344" y="4645152"/>
            <a:ext cx="2816352" cy="0"/>
          </a:xfrm>
          <a:prstGeom prst="line">
            <a:avLst/>
          </a:prstGeom>
          <a:noFill/>
          <a:ln w="12700">
            <a:solidFill>
              <a:srgbClr val="E2E9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67344" y="480060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recovery checklist and share-safe incident brief.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20240" y="5806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0B9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577900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730752" y="58064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879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22392" y="577900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108192" y="58064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B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TO ACT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3891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user stays in control at every step.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6C5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organizes comparisons and evidence; the consumer confirms what is true and chooses what to 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623560" cy="3520440"/>
          </a:xfrm>
          <a:prstGeom prst="roundRect">
            <a:avLst>
              <a:gd name="adj" fmla="val 4156"/>
            </a:avLst>
          </a:prstGeom>
          <a:solidFill>
            <a:srgbClr val="12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EXAMPLE  •  NOT A REAL PAYMENT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number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2999232"/>
            <a:ext cx="2258568" cy="749808"/>
          </a:xfrm>
          <a:prstGeom prst="roundRect">
            <a:avLst>
              <a:gd name="adj" fmla="val 13415"/>
            </a:avLst>
          </a:prstGeom>
          <a:solidFill>
            <a:srgbClr val="19384D"/>
          </a:solidFill>
          <a:ln w="11430">
            <a:solidFill>
              <a:srgbClr val="3156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999232"/>
            <a:ext cx="2542032" cy="749808"/>
          </a:xfrm>
          <a:prstGeom prst="roundRect">
            <a:avLst>
              <a:gd name="adj" fmla="val 13415"/>
            </a:avLst>
          </a:prstGeom>
          <a:solidFill>
            <a:srgbClr val="3A2630"/>
          </a:solidFill>
          <a:ln w="11430">
            <a:solidFill>
              <a:srgbClr val="6A43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3081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E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INTENDED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331927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01712-345678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3081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6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ENTERED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01712-345687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13632" y="3858768"/>
            <a:ext cx="1783080" cy="292608"/>
          </a:xfrm>
          <a:prstGeom prst="roundRect">
            <a:avLst>
              <a:gd name="adj" fmla="val 46875"/>
            </a:avLst>
          </a:prstGeom>
          <a:solidFill>
            <a:srgbClr val="532D35"/>
          </a:solidFill>
          <a:ln w="11430">
            <a:solidFill>
              <a:srgbClr val="532D3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6784" y="3877056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 — PAUSE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3525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" y="4645152"/>
            <a:ext cx="2258568" cy="566928"/>
          </a:xfrm>
          <a:prstGeom prst="roundRect">
            <a:avLst>
              <a:gd name="adj" fmla="val 17742"/>
            </a:avLst>
          </a:prstGeom>
          <a:solidFill>
            <a:srgbClr val="19384D"/>
          </a:solidFill>
          <a:ln w="11430">
            <a:solidFill>
              <a:srgbClr val="3156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4645152"/>
            <a:ext cx="2542032" cy="566928"/>
          </a:xfrm>
          <a:prstGeom prst="roundRect">
            <a:avLst>
              <a:gd name="adj" fmla="val 17742"/>
            </a:avLst>
          </a:prstGeom>
          <a:solidFill>
            <a:srgbClr val="173D38"/>
          </a:solidFill>
          <a:ln w="11430">
            <a:solidFill>
              <a:srgbClr val="2B6A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4773168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৳3,000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57016" y="477316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E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৳3,000   MATCH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" y="53218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FC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match does not authenticate the wallet owner. Values are manually entered or user-reviewed.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6720840" y="2267712"/>
            <a:ext cx="402336" cy="402336"/>
          </a:xfrm>
          <a:prstGeom prst="ellipse">
            <a:avLst/>
          </a:prstGeom>
          <a:solidFill>
            <a:srgbClr val="0B9288"/>
          </a:solidFill>
          <a:ln w="12700">
            <a:solidFill>
              <a:srgbClr val="0B92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229514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42632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42632" y="255117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9C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 recipient and amount vs. the details the user sees.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720840" y="3383280"/>
            <a:ext cx="402336" cy="402336"/>
          </a:xfrm>
          <a:prstGeom prst="ellipse">
            <a:avLst/>
          </a:prstGeom>
          <a:solidFill>
            <a:srgbClr val="B87928"/>
          </a:solidFill>
          <a:ln w="12700">
            <a:solidFill>
              <a:srgbClr val="B879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341071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342632" y="3355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42632" y="366674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9C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signals, optional sequence context, or OCR suggestions with source lines.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720840" y="4498848"/>
            <a:ext cx="402336" cy="402336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20840" y="452628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42632" y="4471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42632" y="478231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9C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map, official support paths, call prompts and a redacted brief.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693408" y="5596128"/>
            <a:ext cx="4572000" cy="438912"/>
          </a:xfrm>
          <a:prstGeom prst="roundRect">
            <a:avLst>
              <a:gd name="adj" fmla="val 22917"/>
            </a:avLst>
          </a:prstGeom>
          <a:solidFill>
            <a:srgbClr val="2F3430"/>
          </a:solidFill>
          <a:ln w="11430">
            <a:solidFill>
              <a:srgbClr val="685B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56875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D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payment is still confirmed only inside the provider app.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3A8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3891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B9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RESPONSIBLE ENGINEERING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28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AI for guidance. Keep facts and limits explicit.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checks remain private by default; hosted AI is optional, consent-gated and must be verified after deployment.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066544"/>
            <a:ext cx="5349240" cy="332841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1430">
            <a:solidFill>
              <a:srgbClr val="DC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86000"/>
            <a:ext cx="1600200" cy="292608"/>
          </a:xfrm>
          <a:prstGeom prst="roundRect">
            <a:avLst>
              <a:gd name="adj" fmla="val 46875"/>
            </a:avLst>
          </a:prstGeom>
          <a:solidFill>
            <a:srgbClr val="DDF3EF"/>
          </a:solidFill>
          <a:ln w="11430">
            <a:solidFill>
              <a:srgbClr val="DDF3E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304288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9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CAPABILITIES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980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local rules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54096"/>
            <a:ext cx="4645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and conversation pattern explanations are deterministic and do not produce a fraud probability.</a:t>
            </a:r>
            <a:endParaRPr lang="en-US" sz="91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661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ReceiptLens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22192"/>
            <a:ext cx="4645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Tesseract suggests possible fields; people inspect and confirm the source text.</a:t>
            </a:r>
            <a:endParaRPr lang="en-US" sz="91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3425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Evidence-to-Action Copilot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4645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5F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Cloudflare Workers AI route is implemented with explicit consent, minimized inputs and strict output validation.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199632" y="2066544"/>
            <a:ext cx="5358384" cy="3328416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1430">
            <a:solidFill>
              <a:srgbClr val="DC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286000"/>
            <a:ext cx="1901952" cy="292608"/>
          </a:xfrm>
          <a:prstGeom prst="roundRect">
            <a:avLst>
              <a:gd name="adj" fmla="val 46875"/>
            </a:avLst>
          </a:prstGeom>
          <a:solidFill>
            <a:srgbClr val="FCECEC"/>
          </a:solidFill>
          <a:ln w="1143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2304288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B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LIMITS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73952" y="2852928"/>
            <a:ext cx="109728" cy="109728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11696" y="27980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wallet-owner or recipient identity verification.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73952" y="3310128"/>
            <a:ext cx="109728" cy="109728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11696" y="32552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personal transaction lookup or payment-provider API connection.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473952" y="3767328"/>
            <a:ext cx="109728" cy="109728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11696" y="37124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transfer initiation, cancellation, freezing or reversal.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473952" y="4224528"/>
            <a:ext cx="109728" cy="109728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11696" y="41696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complaint submission or guaranteed refund/recovery.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73952" y="4681728"/>
            <a:ext cx="109728" cy="109728"/>
          </a:xfrm>
          <a:prstGeom prst="ellipse">
            <a:avLst/>
          </a:prstGeom>
          <a:solidFill>
            <a:srgbClr val="CB5555"/>
          </a:solidFill>
          <a:ln w="12700">
            <a:solidFill>
              <a:srgbClr val="CB55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46268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detected warning pattern does not mean a message is safe.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17936" cy="475488"/>
          </a:xfrm>
          <a:prstGeom prst="roundRect">
            <a:avLst>
              <a:gd name="adj" fmla="val 23077"/>
            </a:avLst>
          </a:prstGeom>
          <a:solidFill>
            <a:srgbClr val="FFF2DC"/>
          </a:solidFill>
          <a:ln w="11430">
            <a:solidFill>
              <a:srgbClr val="EED9B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6967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80" kern="0" dirty="0">
                <a:solidFill>
                  <a:srgbClr val="B879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DEPLOYMENT GATE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2523744" y="566928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7450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Pages + AI binding + one real synthetic inference check are still pending; mocked tests are not live AI evidence.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4535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7386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Cloudflare Workers AI `@cf/qwen/qwen3-30b-a3b-fp8`; official docs describe model availability. Public project binding and inference have not yet been verified.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809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3891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PRODUCT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connected workflow — not another “scam score”.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6C5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hypothesis is the combination of prevention, context and evidence preparation for Bangladesh MFS consumers.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401568" cy="1645920"/>
          </a:xfrm>
          <a:prstGeom prst="roundRect">
            <a:avLst>
              <a:gd name="adj" fmla="val 8333"/>
            </a:avLst>
          </a:prstGeom>
          <a:solidFill>
            <a:srgbClr val="12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79192"/>
            <a:ext cx="2999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intent ↔ what the user sees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63824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DC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pause for recipient and amount mismatches before sending.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401568" cy="1645920"/>
          </a:xfrm>
          <a:prstGeom prst="roundRect">
            <a:avLst>
              <a:gd name="adj" fmla="val 8333"/>
            </a:avLst>
          </a:prstGeom>
          <a:solidFill>
            <a:srgbClr val="12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79192"/>
            <a:ext cx="2999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across messages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63824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DC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selected warning patterns and ordered pressure sequences without claiming to know a sender’s identity.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302752" y="2103120"/>
            <a:ext cx="3401568" cy="1645920"/>
          </a:xfrm>
          <a:prstGeom prst="roundRect">
            <a:avLst>
              <a:gd name="adj" fmla="val 8333"/>
            </a:avLst>
          </a:prstGeom>
          <a:solidFill>
            <a:srgbClr val="12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5E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679192"/>
            <a:ext cx="2999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→ next action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163824"/>
            <a:ext cx="2971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DC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provenance visible and help prepare a support conversation using official paths.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4096512"/>
            <a:ext cx="6492240" cy="1417320"/>
          </a:xfrm>
          <a:prstGeom prst="roundRect">
            <a:avLst>
              <a:gd name="adj" fmla="val 9677"/>
            </a:avLst>
          </a:prstGeom>
          <a:solidFill>
            <a:srgbClr val="10273A"/>
          </a:solidFill>
          <a:ln w="11430">
            <a:solidFill>
              <a:srgbClr val="2947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3342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A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BY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617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Samin Yeasar Rubai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0109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2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Undergraduate, Computer Science &amp; Engineering  •  BRAC University  •  Bangladesh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24928" y="4096512"/>
            <a:ext cx="4096512" cy="1417320"/>
          </a:xfrm>
          <a:prstGeom prst="roundRect">
            <a:avLst>
              <a:gd name="adj" fmla="val 9677"/>
            </a:avLst>
          </a:prstGeom>
          <a:solidFill>
            <a:srgbClr val="192E3A"/>
          </a:solidFill>
          <a:ln w="11430">
            <a:solidFill>
              <a:srgbClr val="6B62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2672" y="4315968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51462F"/>
          </a:solidFill>
          <a:ln w="11430">
            <a:solidFill>
              <a:srgbClr val="51462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35824" y="4334256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3D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SUBMISSION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4736592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live AI  •  insert official sticker  •  publish URL  •  test with users</a:t>
            </a:r>
            <a:endParaRPr lang="en-US" sz="102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58521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A9BA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app URL: add after deployment and clean-browser verification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45352"/>
            <a:ext cx="10927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9BAE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is a differentiation hypothesis, not a “world-first” claim. No participant study, independent held-out evaluation or live hosted AI result is claimed in this draft.</a:t>
            </a:r>
            <a:endParaRPr lang="en-US" sz="6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3A8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PayCheckpoint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PayCheckpoint — YUNet AIgnite Buildathon 2026</dc:title>
  <dc:subject>PayCheckpoint — B2C payment safety and incident preparation</dc:subject>
  <dc:creator>Samin Yeasar Rubai</dc:creator>
  <cp:lastModifiedBy>Samin Yeasar Rubai</cp:lastModifiedBy>
  <cp:revision>1</cp:revision>
  <dcterms:created xsi:type="dcterms:W3CDTF">2026-10-30T10:07:18Z</dcterms:created>
  <dcterms:modified xsi:type="dcterms:W3CDTF">2026-10-30T10:07:18Z</dcterms:modified>
</cp:coreProperties>
</file>